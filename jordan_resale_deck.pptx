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8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816"/>
                </a:solidFill>
                <a:latin typeface="Arial"/>
              </a:rPr>
              <a:t>Average Profit Margin by Condition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margin vs. retail</c:v>
                </c:pt>
              </c:strCache>
            </c:strRef>
          </c:tx>
          <c:spPr>
            <a:solidFill>
              <a:srgbClr val="D6301F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Deadstock
(Brand New)</c:v>
                  </c:pt>
                  <c:pt idx="1">
                    <c:v>VNDS</c:v>
                  </c:pt>
                  <c:pt idx="2">
                    <c:v>Used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137.7</c:v>
                </c:pt>
                <c:pt idx="1">
                  <c:v>19.6</c:v>
                </c:pt>
                <c:pt idx="2">
                  <c:v>-30.3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8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816"/>
                </a:solidFill>
                <a:latin typeface="Arial"/>
              </a:rPr>
              <a:t>Median Days in Inventory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 in inventory</c:v>
                </c:pt>
              </c:strCache>
            </c:strRef>
          </c:tx>
          <c:spPr>
            <a:solidFill>
              <a:srgbClr val="D630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StockX</c:v>
                  </c:pt>
                  <c:pt idx="1">
                    <c:v>GOAT</c:v>
                  </c:pt>
                  <c:pt idx="2">
                    <c:v>kick hub
2026</c:v>
                  </c:pt>
                  <c:pt idx="3">
                    <c:v>Stadium
Goods</c:v>
                  </c:pt>
                  <c:pt idx="4">
                    <c:v>Walk-in
Retail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33</c:v>
                </c:pt>
                <c:pt idx="3">
                  <c:v>33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8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816"/>
                </a:solidFill>
                <a:latin typeface="Arial"/>
              </a:rPr>
              <a:t>Average Resale Price by Quarter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resale price ($)</c:v>
                </c:pt>
              </c:strCache>
            </c:strRef>
          </c:tx>
          <c:spPr>
            <a:solidFill>
              <a:srgbClr val="D6301F"/>
            </a:solidFill>
            <a:ln w="31750" cap="flat">
              <a:solidFill>
                <a:srgbClr val="D630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301F"/>
              </a:solidFill>
              <a:ln w="9525" cap="flat">
                <a:solidFill>
                  <a:srgbClr val="D630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23-Q1</c:v>
                  </c:pt>
                  <c:pt idx="1">
                    <c:v>23-Q2</c:v>
                  </c:pt>
                  <c:pt idx="2">
                    <c:v>23-Q3</c:v>
                  </c:pt>
                  <c:pt idx="3">
                    <c:v>23-Q4</c:v>
                  </c:pt>
                  <c:pt idx="4">
                    <c:v>24-Q1</c:v>
                  </c:pt>
                  <c:pt idx="5">
                    <c:v>24-Q2</c:v>
                  </c:pt>
                  <c:pt idx="6">
                    <c:v>24-Q3</c:v>
                  </c:pt>
                  <c:pt idx="7">
                    <c:v>24-Q4</c:v>
                  </c:pt>
                  <c:pt idx="8">
                    <c:v>25-Q1</c:v>
                  </c:pt>
                  <c:pt idx="9">
                    <c:v>25-Q2</c:v>
                  </c:pt>
                  <c:pt idx="10">
                    <c:v>25-Q3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279.5</c:v>
                </c:pt>
                <c:pt idx="1">
                  <c:v>263</c:v>
                </c:pt>
                <c:pt idx="2">
                  <c:v>274.4</c:v>
                </c:pt>
                <c:pt idx="3">
                  <c:v>272.8</c:v>
                </c:pt>
                <c:pt idx="4">
                  <c:v>281.6</c:v>
                </c:pt>
                <c:pt idx="5">
                  <c:v>278.6</c:v>
                </c:pt>
                <c:pt idx="6">
                  <c:v>271.5</c:v>
                </c:pt>
                <c:pt idx="7">
                  <c:v>265.4</c:v>
                </c:pt>
                <c:pt idx="8">
                  <c:v>268.1</c:v>
                </c:pt>
                <c:pt idx="9">
                  <c:v>284.7</c:v>
                </c:pt>
                <c:pt idx="10">
                  <c:v>266.6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240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8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816"/>
                </a:solidFill>
                <a:latin typeface="Arial"/>
              </a:rPr>
              <a:t>Mean Absolute Error by Model ($,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($)</c:v>
                </c:pt>
              </c:strCache>
            </c:strRef>
          </c:tx>
          <c:spPr>
            <a:solidFill>
              <a:srgbClr val="6B6862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A1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68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68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30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30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1F1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301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Baseline:
mean</c:v>
                  </c:pt>
                  <c:pt idx="1">
                    <c:v>Baseline:
MSRP</c:v>
                  </c:pt>
                  <c:pt idx="2">
                    <c:v>Linear
Regression</c:v>
                  </c:pt>
                  <c:pt idx="3">
                    <c:v>Random Forest
(default)</c:v>
                  </c:pt>
                  <c:pt idx="4">
                    <c:v>Random Forest
(tuned)</c:v>
                  </c:pt>
                  <c:pt idx="5">
                    <c:v>Gradient
Boosting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129.69</c:v>
                </c:pt>
                <c:pt idx="1">
                  <c:v>120.73</c:v>
                </c:pt>
                <c:pt idx="2">
                  <c:v>62.07</c:v>
                </c:pt>
                <c:pt idx="3">
                  <c:v>57.52</c:v>
                </c:pt>
                <c:pt idx="4">
                  <c:v>56.9</c:v>
                </c:pt>
                <c:pt idx="5">
                  <c:v>58.75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150" u="none">
                  <a:solidFill>
                    <a:srgbClr val="1A1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81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816"/>
                </a:solidFill>
                <a:latin typeface="Arial"/>
              </a:rPr>
              <a:t>Random Forest 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D630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8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Condition</c:v>
                  </c:pt>
                  <c:pt idx="1">
                    <c:v>Retail Price</c:v>
                  </c:pt>
                  <c:pt idx="2">
                    <c:v>Shoe Model</c:v>
                  </c:pt>
                  <c:pt idx="3">
                    <c:v>Other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12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8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201168" cy="201168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 Jordan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Market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EDA → Predictive Modeling → Interactive Tools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Darius Follins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resale transactions · 2023–2025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dataset, three phases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sneaker resale market spans global platforms and independent retail alike. This project digs into 5,000 Air Jordan resale transactions in three phases — then builds tools that put the findings to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Explore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434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data, then find what actually drives price and how fast a pair sells.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834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154680"/>
            <a:ext cx="502920" cy="50292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3434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compare models that price a pair from its model, colorway, condition, and channel.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834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3154680"/>
            <a:ext cx="502920" cy="50292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3434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two interactive tools — a browser app and a Streamlit app — running the real model.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transactions, fully validated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Air Jordan resale data spanning global platforms (StockX, GOAT, Stadium Goods) and independent retail (kick hub 2026, Walk-in Retail). No missing values, no duplicates, no invalid ranges.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6888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8912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936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Colorways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49840" y="2743200"/>
            <a:ext cx="1783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149840" y="2971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caveat worth flagging: despite the filename, sales run January 2023 – September 2025, not through 2026.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is the strongest price driver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A181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09560" y="18745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168-point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688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from best to worst condition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384048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Deadstock and VNDS both resell at a profit on average — Used is the only condition that sells at a loss. Condition alone explains far more of the price story than colorway or model.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drives speed — condition doesn't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used, not average — turnover time is skewed by a slow-moving tail, so the median is a more honest “typical” figure than a mean would be.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783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StockX &amp; GOAT clear listings in a median of just 8 days — every other channel takes 33–34 days, regardless of condition.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01000" y="3520440"/>
            <a:ext cx="3611880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3703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speed is binary — not a gradient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11480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days-in-inventory is exactly 14 across all three conditions. Condition decides price; channel decides speed — neither influences the other.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market — no seasonality found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680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66760" y="1828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$263–$285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423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quarterly range, across 11 straight quarters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366760" y="3291840"/>
            <a:ext cx="3246120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347472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at quarterly, half-year, and month-of-year resolution — no trend, no holiday-season spike. Time of sale is not a meaningful price driver in this data.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Colorway and model: smaller, real effects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condition, colorway and model shift the size of the profit, not whether there is one — every single colorway and model resells at a profit on average.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651760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COLORWAY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 Green</a:t>
            </a:r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+46.4% (top)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Cat</a:t>
            </a:r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+35.7% (bottom, still profitable)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4724248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206240"/>
            <a:ext cx="472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~11-point spread across all 9 colorways — a real but modest effect next to condition's 168-point swing.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242316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98768" y="2651760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MODEL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06324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Jordan 1 High</a:t>
            </a:r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+45.3% (top)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34747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Jordan 1 Low</a:t>
            </a:r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+40.3% (bottom, still profitable)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98768" y="4023360"/>
            <a:ext cx="4724248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98768" y="4206240"/>
            <a:ext cx="472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~5-point spread across all 5 models — backed by 900+ sales per model, so the gap is real, just small.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533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EDA notebook, Sections 4.1–4.2. Linear Regression ranks colorway/model differently here — a different question, since it controls for retail price at the same time.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findings into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2880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on StockX or GOAT if speed matters most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4724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clear listings 4x+ faster than every other channel — and Stadium Goods does not get this benefit despite being a comparable global platform.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92024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7872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18808" y="182880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Deadstock for margin, not speed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918808" y="2377440"/>
            <a:ext cx="4724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swings margin by 168 points but does nothing for turnover time — pick based on what you actually need.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5760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colorway and model as tie-breakers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06240"/>
            <a:ext cx="4724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option in this data resells at a profit — factor them in at the margin, not as the primary decision.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74904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7872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18808" y="365760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bother timing your listing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918808" y="4206240"/>
            <a:ext cx="4724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 of a seasonal or quarterly window that meaningfully moves price.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avoid fooling ourselves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fitting anything, three deliberate decisions kept the evaluation honest.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95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time, not randomly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39572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2023–2024, test on 2025 — simulates predicting real future sales, not just interpolating.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844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modeling: Days_in_Inventory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58444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known after a sale completes — using it would be leakage, predicting from information that doesn't exist yet.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7731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modeling: Profit_Margin_USD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77316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directly from the target — including it would make the problem trivial.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real models, one clear winner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0607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Random Forest wins: $56.90 MAE, R² 0.74 — cutting the naive baseline's error by more than half.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four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2154" cy="2651760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144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449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$62.07 MAE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1449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a straight-line relationship between features and price. Simple and interpretable, but can't capture Condition's outsized, non-additive swing.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9394" y="1691640"/>
            <a:ext cx="2602154" cy="2651760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7994" y="1965960"/>
            <a:ext cx="2144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(default)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514600"/>
            <a:ext cx="21449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$57.52 MAE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2926080"/>
            <a:ext cx="21449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independent trees, each voting on an average. Hand-picked settings — no tuning applied.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0148" y="1691640"/>
            <a:ext cx="2602154" cy="2651760"/>
          </a:xfrm>
          <a:prstGeom prst="roundRect">
            <a:avLst>
              <a:gd name="adj" fmla="val 2811"/>
            </a:avLst>
          </a:prstGeom>
          <a:solidFill>
            <a:srgbClr val="1A181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93028" y="1874520"/>
            <a:ext cx="2236394" cy="292608"/>
          </a:xfrm>
          <a:prstGeom prst="roundRect">
            <a:avLst>
              <a:gd name="adj" fmla="val 50000"/>
            </a:avLst>
          </a:prstGeom>
          <a:solidFill>
            <a:srgbClr val="D630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874520"/>
            <a:ext cx="2236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2286000"/>
            <a:ext cx="2144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(tuned)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38748" y="2834640"/>
            <a:ext cx="21449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$56.90 MAE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38748" y="3246120"/>
            <a:ext cx="21449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+ cross-validation found shallower, more regularized trees (200 trees, depth 6) than the hand-picked defaults.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40901" y="1691640"/>
            <a:ext cx="2602154" cy="2651760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69501" y="1965960"/>
            <a:ext cx="2144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69501" y="2514600"/>
            <a:ext cx="21449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$58.75 MAE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69501" y="2926080"/>
            <a:ext cx="21449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trees sequentially, each correcting the last. Usually shines by finding subtle feature interactions.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tuned Random Forest won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Beat Linear Regression because Condition's effect isn't a straight line — tree splits handle a sharp categorical cutoff naturally.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Beat Gradient Boosting because Condition so thoroughly dominates the prediction that little complex interaction structure is left for sequential correction to exploit.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Tuning improved on the untuned default by only $0.62 MAE — the hand-picked defaults were already reasonable, not a lucky guess that tuning rescued.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WHAT DRIVES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confirms: Condition drives price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82880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model families, two different importance measurement methods (Random Forest's built-in importance vs. Gradient Boosting's permutation importance) — same conclusion both times.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818120" y="3429000"/>
            <a:ext cx="3794760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361188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found a 168-point margin swing by condition (Slide 4). The model independently assigns Condition 83% of its decision weight — two separate methods, same answer.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model agrees on direction, not just magnitude: Linear Regression's coefficients show that switching a pair from Used to Deadstock condition raises its predicted price by $326 — even after accounting for retail price, model, colorway, and channel.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where it struggles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A18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±$57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model error (MAE) — an average, not a formal confidence interval.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43434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29768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under-predicts rare, high-hype pairs — sales above ~$400 tend to get predicted lower than reality.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828800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240280"/>
            <a:ext cx="5562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 in this dataset flags “this is a rare, high-hype pair.” The model can only lean on Model, Colorway, Condition, and Channel — none of which capture hype or scarcity directly.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520440"/>
            <a:ext cx="5562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holds across every model tried — Linear Regression, both Random Forest versions, and Gradient Boosting all show the identical pattern. Tuning and model choice don't fix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4800600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takeaway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5212080"/>
            <a:ext cx="5562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this model for typical sales. Treat its output as a floor, not a ceiling, on rare or hyped pairs.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live tools, one real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run the exact same tuned Random Forest — verified to produce identical predictions for identical inputs.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Tool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4632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jordan_price_predictor.html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97680"/>
            <a:ext cx="46328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200-tree model exported to JSON and re-implemented in JavaScript. No server, no Python, no data upload — open the file and it runs entirely in your browser.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2377440"/>
            <a:ext cx="536432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4488" y="2743200"/>
            <a:ext cx="457200" cy="457200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4448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3383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3794760"/>
            <a:ext cx="4632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4297680"/>
            <a:ext cx="46328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the real scikit-learn model directly — no re-implementation needed. Deployable to a free live URL via Streamlit Community Cloud.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201168" cy="201168"/>
          </a:xfrm>
          <a:prstGeom prst="ellipse">
            <a:avLst/>
          </a:prstGeom>
          <a:solidFill>
            <a:srgbClr val="D630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decides price.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decides speed.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a tie-breaker.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B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project: EDA notebook · modeling notebook · browser predictor · Streamlit app · all built to be re-run, re-checked, and extended.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Darius Follins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2026-09-10T00:25:53Z</dcterms:created>
  <dcterms:modified xsi:type="dcterms:W3CDTF">2026-09-10T00:25:53Z</dcterms:modified>
</cp:coreProperties>
</file>